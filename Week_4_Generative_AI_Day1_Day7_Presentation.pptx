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55448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Week 4 — Generative AI Fundamentals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Day 1 to Day 7</a:t>
            </a:r>
            <a:br/>
            <a:r>
              <a:t>Generative AI &amp; AI Document Question-Answering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Week 4 — Generative AI Fundamentals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Week 4 Learning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Day 1: Generative AI Fundamentals — LLMs, Tokens, Prompts, Context</a:t>
            </a:r>
          </a:p>
          <a:p>
            <a:pPr>
              <a:spcAft>
                <a:spcPts val="1200"/>
              </a:spcAft>
              <a:defRPr sz="1700"/>
            </a:pPr>
            <a:r>
              <a:t>Day 2: Prompt Engineering — Instructions, Roles, Few-Shot Prompting, Structured Outputs</a:t>
            </a:r>
          </a:p>
          <a:p>
            <a:pPr>
              <a:spcAft>
                <a:spcPts val="1200"/>
              </a:spcAft>
              <a:defRPr sz="1700"/>
            </a:pPr>
            <a:r>
              <a:t>Day 3: LLM APIs — API Keys, Requests, Responses, Python Integration</a:t>
            </a:r>
          </a:p>
          <a:p>
            <a:pPr>
              <a:spcAft>
                <a:spcPts val="1200"/>
              </a:spcAft>
              <a:defRPr sz="1700"/>
            </a:pPr>
            <a:r>
              <a:t>Day 4: Working with AI Models — System Prompts, Temperature, Context, Response Control</a:t>
            </a:r>
          </a:p>
          <a:p>
            <a:pPr>
              <a:spcAft>
                <a:spcPts val="1200"/>
              </a:spcAft>
              <a:defRPr sz="1700"/>
            </a:pPr>
            <a:r>
              <a:t>Day 5: Embeddings and RAG Fundamentals — Vectors, Similarity Search, Knowledge Retrieval</a:t>
            </a:r>
          </a:p>
          <a:p>
            <a:pPr>
              <a:spcAft>
                <a:spcPts val="1200"/>
              </a:spcAft>
              <a:defRPr sz="1700"/>
            </a:pPr>
            <a:r>
              <a:t>Day 6: Building a Generative AI Application — Python, LLM API, User Interface</a:t>
            </a:r>
          </a:p>
          <a:p>
            <a:pPr>
              <a:spcAft>
                <a:spcPts val="1200"/>
              </a:spcAft>
              <a:defRPr sz="1700"/>
            </a:pPr>
            <a:r>
              <a:t>Day 7: Mini Project — AI Document Question-Answering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Week 4 — Generative AI Fundamentals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Day 1 — Generative AI Fundamentals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8016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Generative AI can create new content such as text, summaries, answers, and code.</a:t>
            </a:r>
          </a:p>
          <a:p>
            <a:pPr>
              <a:spcAft>
                <a:spcPts val="1200"/>
              </a:spcAft>
              <a:defRPr sz="1700"/>
            </a:pPr>
            <a:r>
              <a:t>Large Language Models (LLMs) understand and generate text using tokens and contextual information.</a:t>
            </a:r>
          </a:p>
          <a:p>
            <a:pPr>
              <a:spcAft>
                <a:spcPts val="1200"/>
              </a:spcAft>
              <a:defRPr sz="1700"/>
            </a:pPr>
            <a:r>
              <a:t>Prompts provide instructions or questions to an AI model.</a:t>
            </a:r>
          </a:p>
          <a:p>
            <a:pPr>
              <a:spcAft>
                <a:spcPts val="1200"/>
              </a:spcAft>
              <a:defRPr sz="1700"/>
            </a:pPr>
            <a:r>
              <a:t>Context provides information that helps the model produce a relevant response.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Week 4 — Generative AI Fundamentals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Day 1 — Generative AI Fundamentals — Code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325880"/>
            <a:ext cx="10972800" cy="5029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/>
          <a:lstStyle/>
          <a:p>
            <a:pPr algn="ctr">
              <a:defRPr sz="1300">
                <a:latin typeface="Consolas"/>
              </a:defRPr>
            </a:pPr>
            <a:r>
              <a:t>text = "Generative AI can create new content such as text, answers and code."</a:t>
            </a:r>
            <a:br/>
            <a:r>
              <a:t>tokens = text.split()</a:t>
            </a:r>
            <a:br/>
            <a:br/>
            <a:r>
              <a:t>print("Original Text:")</a:t>
            </a:r>
            <a:br/>
            <a:r>
              <a:t>print(text)</a:t>
            </a:r>
            <a:br/>
            <a:r>
              <a:t>print("Tokens:")</a:t>
            </a:r>
            <a:br/>
            <a:r>
              <a:t>print(tokens)</a:t>
            </a:r>
            <a:br/>
            <a:r>
              <a:t>print("Number of Tokens:", len(tokens))</a:t>
            </a:r>
            <a:br/>
            <a:br/>
            <a:r>
              <a:t>prompt = "Explain Generative AI in simple words."</a:t>
            </a:r>
            <a:br/>
            <a:r>
              <a:t>print("Prompt:", prompt)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Week 4 — Generative AI Fundamentals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Day 2 — Prompt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8016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Prompt engineering helps developers control the quality and format of AI responses.</a:t>
            </a:r>
          </a:p>
          <a:p>
            <a:pPr>
              <a:spcAft>
                <a:spcPts val="1200"/>
              </a:spcAft>
              <a:defRPr sz="1700"/>
            </a:pPr>
            <a:r>
              <a:t>Instructions define what the model should do.</a:t>
            </a:r>
          </a:p>
          <a:p>
            <a:pPr>
              <a:spcAft>
                <a:spcPts val="1200"/>
              </a:spcAft>
              <a:defRPr sz="1700"/>
            </a:pPr>
            <a:r>
              <a:t>Roles establish how the assistant should behave.</a:t>
            </a:r>
          </a:p>
          <a:p>
            <a:pPr>
              <a:spcAft>
                <a:spcPts val="1200"/>
              </a:spcAft>
              <a:defRPr sz="1700"/>
            </a:pPr>
            <a:r>
              <a:t>Few-shot prompting uses examples to guide responses.</a:t>
            </a:r>
          </a:p>
          <a:p>
            <a:pPr>
              <a:spcAft>
                <a:spcPts val="1200"/>
              </a:spcAft>
              <a:defRPr sz="1700"/>
            </a:pPr>
            <a:r>
              <a:t>Structured outputs specify the desired response format.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Week 4 — Generative AI Fundamentals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Day 2 — Prompt Engineering — Code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325880"/>
            <a:ext cx="10972800" cy="5029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/>
          <a:lstStyle/>
          <a:p>
            <a:pPr algn="ctr">
              <a:defRPr sz="1300">
                <a:latin typeface="Consolas"/>
              </a:defRPr>
            </a:pPr>
            <a:r>
              <a:t>def create_prompt(role, task, format_type):</a:t>
            </a:r>
            <a:br/>
            <a:r>
              <a:t>    prompt = f"""</a:t>
            </a:r>
            <a:br/>
            <a:r>
              <a:t>Role: {role}</a:t>
            </a:r>
            <a:br/>
            <a:r>
              <a:t>Task: {task}</a:t>
            </a:r>
            <a:br/>
            <a:r>
              <a:t>Output Format: {format_type}</a:t>
            </a:r>
            <a:br/>
            <a:r>
              <a:t>"""</a:t>
            </a:r>
            <a:br/>
            <a:r>
              <a:t>    return prompt</a:t>
            </a:r>
            <a:br/>
            <a:br/>
            <a:r>
              <a:t>prompt = create_prompt(</a:t>
            </a:r>
            <a:br/>
            <a:r>
              <a:t>    "AI Assistant",</a:t>
            </a:r>
            <a:br/>
            <a:r>
              <a:t>    "Explain Machine Learning to a beginner.",</a:t>
            </a:r>
            <a:br/>
            <a:r>
              <a:t>    "Simple bullet points"</a:t>
            </a:r>
            <a:br/>
            <a:r>
              <a:t>)</a:t>
            </a:r>
            <a:br/>
            <a:r>
              <a:t>print(prompt)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Week 4 — Generative AI Fundamentals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Day 3 — LLM APIs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8016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LLM APIs allow applications to integrate Generative AI capabilities programmatically.</a:t>
            </a:r>
          </a:p>
          <a:p>
            <a:pPr>
              <a:spcAft>
                <a:spcPts val="1200"/>
              </a:spcAft>
              <a:defRPr sz="1700"/>
            </a:pPr>
            <a:r>
              <a:t>The workflow includes API keys, requests, responses, and Python integration.</a:t>
            </a:r>
          </a:p>
          <a:p>
            <a:pPr>
              <a:spcAft>
                <a:spcPts val="1200"/>
              </a:spcAft>
              <a:defRPr sz="1700"/>
            </a:pPr>
            <a:r>
              <a:t>The practice code demonstrates sending data to an API and reading the response.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Week 4 — Generative AI Fundamentals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Day 3 — LLM APIs — Code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325880"/>
            <a:ext cx="10972800" cy="5029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/>
          <a:lstStyle/>
          <a:p>
            <a:pPr algn="ctr">
              <a:defRPr sz="1300">
                <a:latin typeface="Consolas"/>
              </a:defRPr>
            </a:pPr>
            <a:r>
              <a:t>import requests</a:t>
            </a:r>
            <a:br/>
            <a:br/>
            <a:r>
              <a:t>url = "https://jsonplaceholder.typicode.com/posts"</a:t>
            </a:r>
            <a:br/>
            <a:br/>
            <a:r>
              <a:t>data = {</a:t>
            </a:r>
            <a:br/>
            <a:r>
              <a:t>    "title": "Generative AI",</a:t>
            </a:r>
            <a:br/>
            <a:r>
              <a:t>    "body": "LLM APIs can be used with Python.",</a:t>
            </a:r>
            <a:br/>
            <a:r>
              <a:t>    "userId": 1</a:t>
            </a:r>
            <a:br/>
            <a:r>
              <a:t>}</a:t>
            </a:r>
            <a:br/>
            <a:br/>
            <a:r>
              <a:t>response = requests.post(url, json=data)</a:t>
            </a:r>
            <a:br/>
            <a:br/>
            <a:r>
              <a:t>print("Status Code:", response.status_code)</a:t>
            </a:r>
            <a:br/>
            <a:r>
              <a:t>print("Response:", response.json())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Week 4 — Generative AI Fundamentals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Day 4 — Working with AI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8016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System prompts define assistant behavior.</a:t>
            </a:r>
          </a:p>
          <a:p>
            <a:pPr>
              <a:spcAft>
                <a:spcPts val="1200"/>
              </a:spcAft>
              <a:defRPr sz="1700"/>
            </a:pPr>
            <a:r>
              <a:t>User prompts contain the user's request.</a:t>
            </a:r>
          </a:p>
          <a:p>
            <a:pPr>
              <a:spcAft>
                <a:spcPts val="1200"/>
              </a:spcAft>
              <a:defRPr sz="1700"/>
            </a:pPr>
            <a:r>
              <a:t>Context supplies relevant information to the model.</a:t>
            </a:r>
          </a:p>
          <a:p>
            <a:pPr>
              <a:spcAft>
                <a:spcPts val="1200"/>
              </a:spcAft>
              <a:defRPr sz="1700"/>
            </a:pPr>
            <a:r>
              <a:t>Response control can be influenced by model settings such as temperature.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Week 4 — Generative AI Fundamentals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Day 4 — Working with AI Models — Code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325880"/>
            <a:ext cx="10972800" cy="5029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/>
          <a:lstStyle/>
          <a:p>
            <a:pPr algn="ctr">
              <a:defRPr sz="1300">
                <a:latin typeface="Consolas"/>
              </a:defRPr>
            </a:pPr>
            <a:r>
              <a:t>system_prompt = """</a:t>
            </a:r>
            <a:br/>
            <a:r>
              <a:t>You are a helpful AI assistant.</a:t>
            </a:r>
            <a:br/>
            <a:r>
              <a:t>Give simple and clear answers.</a:t>
            </a:r>
            <a:br/>
            <a:r>
              <a:t>"""</a:t>
            </a:r>
            <a:br/>
            <a:br/>
            <a:r>
              <a:t>user_prompt = "Explain what an LLM is."</a:t>
            </a:r>
            <a:br/>
            <a:br/>
            <a:r>
              <a:t>context = """</a:t>
            </a:r>
            <a:br/>
            <a:r>
              <a:t>LLM stands for Large Language Model.</a:t>
            </a:r>
            <a:br/>
            <a:r>
              <a:t>It understands and generates human-like text.</a:t>
            </a:r>
            <a:br/>
            <a:r>
              <a:t>"""</a:t>
            </a:r>
            <a:br/>
            <a:br/>
            <a:r>
              <a:t>final_prompt = f"""</a:t>
            </a:r>
            <a:br/>
            <a:r>
              <a:t>{system_prompt}</a:t>
            </a:r>
            <a:br/>
            <a:r>
              <a:t>Context: {context}</a:t>
            </a:r>
            <a:br/>
            <a:r>
              <a:t>Question: {user_prompt}</a:t>
            </a:r>
            <a:br/>
            <a:r>
              <a:t>"""</a:t>
            </a:r>
            <a:br/>
            <a:br/>
            <a:r>
              <a:t>print(final_prompt)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Week 4 — Generative AI Fundamentals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Day 5 — Embeddings and RAG Fundamentals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8016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Embeddings convert text into numerical representations (vectors).</a:t>
            </a:r>
          </a:p>
          <a:p>
            <a:pPr>
              <a:spcAft>
                <a:spcPts val="1200"/>
              </a:spcAft>
              <a:defRPr sz="1700"/>
            </a:pPr>
            <a:r>
              <a:t>Similarity search compares the question with document content.</a:t>
            </a:r>
          </a:p>
          <a:p>
            <a:pPr>
              <a:spcAft>
                <a:spcPts val="1200"/>
              </a:spcAft>
              <a:defRPr sz="1700"/>
            </a:pPr>
            <a:r>
              <a:t>Retrieval-Augmented Generation (RAG) retrieves relevant external information before generating an answer.</a:t>
            </a:r>
          </a:p>
          <a:p>
            <a:pPr>
              <a:spcAft>
                <a:spcPts val="1200"/>
              </a:spcAft>
              <a:defRPr sz="1700"/>
            </a:pPr>
            <a:r>
              <a:t>The practice uses TF-IDF vectors and cosine similarity for simple retrieval.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Week 4 — Generative AI Fundamentals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Day 5 — Embeddings and RAG Fundamentals — Code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325880"/>
            <a:ext cx="10972800" cy="5029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/>
          <a:lstStyle/>
          <a:p>
            <a:pPr algn="ctr">
              <a:defRPr sz="1100">
                <a:latin typeface="Consolas"/>
              </a:defRPr>
            </a:pPr>
            <a:r>
              <a:t>from sklearn.feature_extraction.text import TfidfVectorizer</a:t>
            </a:r>
            <a:br/>
            <a:r>
              <a:t>from sklearn.metrics.pairwise import cosine_similarity</a:t>
            </a:r>
            <a:br/>
            <a:br/>
            <a:r>
              <a:t>documents = [</a:t>
            </a:r>
            <a:br/>
            <a:r>
              <a:t>    "Machine learning is a part of artificial intelligence.",</a:t>
            </a:r>
            <a:br/>
            <a:r>
              <a:t>    "Python is a popular programming language.",</a:t>
            </a:r>
            <a:br/>
            <a:r>
              <a:t>    "Generative AI can generate text and images.",</a:t>
            </a:r>
            <a:br/>
            <a:r>
              <a:t>    "Deep learning uses neural networks."</a:t>
            </a:r>
            <a:br/>
            <a:r>
              <a:t>]</a:t>
            </a:r>
            <a:br/>
            <a:br/>
            <a:r>
              <a:t>query = "What is Generative AI?"</a:t>
            </a:r>
            <a:br/>
            <a:br/>
            <a:r>
              <a:t>vectorizer = TfidfVectorizer()</a:t>
            </a:r>
            <a:br/>
            <a:r>
              <a:t>document_vectors = vectorizer.fit_transform(documents)</a:t>
            </a:r>
            <a:br/>
            <a:r>
              <a:t>query_vector = vectorizer.transform([query])</a:t>
            </a:r>
            <a:br/>
            <a:br/>
            <a:r>
              <a:t>similarity = cosine_similarity(query_vector, document_vectors)</a:t>
            </a:r>
            <a:br/>
            <a:r>
              <a:t>best_index = similarity.argmax()</a:t>
            </a:r>
            <a:br/>
            <a:br/>
            <a:r>
              <a:t>print("Most Relevant Document:")</a:t>
            </a:r>
            <a:br/>
            <a:r>
              <a:t>print(documents[best_index])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Week 4 — Generative AI Fundamentals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Day 6 — Building a Generative AI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8016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A simple Python-based assistant accepts a question and returns a response.</a:t>
            </a:r>
          </a:p>
          <a:p>
            <a:pPr>
              <a:spcAft>
                <a:spcPts val="1200"/>
              </a:spcAft>
              <a:defRPr sz="1700"/>
            </a:pPr>
            <a:r>
              <a:t>The application demonstrates basic user interaction and response generation.</a:t>
            </a:r>
          </a:p>
          <a:p>
            <a:pPr>
              <a:spcAft>
                <a:spcPts val="1200"/>
              </a:spcAft>
              <a:defRPr sz="1700"/>
            </a:pPr>
            <a:r>
              <a:t>The Week 4 guide identifies Python, an LLM API, and a user interface as the Day 6 focus.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Week 4 — Generative AI Fundamentals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Day 6 — Building a Generative AI Application — Code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325880"/>
            <a:ext cx="10972800" cy="5029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/>
          <a:lstStyle/>
          <a:p>
            <a:pPr algn="ctr">
              <a:defRPr sz="1100">
                <a:latin typeface="Consolas"/>
              </a:defRPr>
            </a:pPr>
            <a:r>
              <a:t>def ai_assistant(question):</a:t>
            </a:r>
            <a:br/>
            <a:r>
              <a:t>    question = question.lower()</a:t>
            </a:r>
            <a:br/>
            <a:br/>
            <a:r>
              <a:t>    if "generative ai" in question:</a:t>
            </a:r>
            <a:br/>
            <a:r>
              <a:t>        return "Generative AI can create new content such as text, images and code."</a:t>
            </a:r>
            <a:br/>
            <a:r>
              <a:t>    elif "machine learning" in question:</a:t>
            </a:r>
            <a:br/>
            <a:r>
              <a:t>        return "Machine Learning is a branch of Artificial Intelligence."</a:t>
            </a:r>
            <a:br/>
            <a:r>
              <a:t>    elif "llm" in question:</a:t>
            </a:r>
            <a:br/>
            <a:r>
              <a:t>        return "LLM stands for Large Language Model."</a:t>
            </a:r>
            <a:br/>
            <a:r>
              <a:t>    elif "ai" in question:</a:t>
            </a:r>
            <a:br/>
            <a:r>
              <a:t>        return "AI stands for Artificial Intelligence."</a:t>
            </a:r>
            <a:br/>
            <a:r>
              <a:t>    else:</a:t>
            </a:r>
            <a:br/>
            <a:r>
              <a:t>        return "Please ask about AI, ML, LLM or Generative AI."</a:t>
            </a:r>
            <a:br/>
            <a:br/>
            <a:r>
              <a:t>question = "generative ai"</a:t>
            </a:r>
            <a:br/>
            <a:r>
              <a:t>answer = ai_assistant(question)</a:t>
            </a:r>
            <a:br/>
            <a:br/>
            <a:r>
              <a:t>print("GENERATIVE AI ASSISTANT")</a:t>
            </a:r>
            <a:br/>
            <a:r>
              <a:t>print("Question:", question)</a:t>
            </a:r>
            <a:br/>
            <a:r>
              <a:t>print("Answer:", answer)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Week 4 — Generative AI Fundamentals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Day 7 — AI Document Question-Answering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8016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Mini project: allow a user to provide a document and ask questions about its content.</a:t>
            </a:r>
          </a:p>
          <a:p>
            <a:pPr>
              <a:spcAft>
                <a:spcPts val="1200"/>
              </a:spcAft>
              <a:defRPr sz="1700"/>
            </a:pPr>
            <a:r>
              <a:t>Workflow: document → text → chunks → embeddings → retrieval → answer.</a:t>
            </a:r>
          </a:p>
          <a:p>
            <a:pPr>
              <a:spcAft>
                <a:spcPts val="1200"/>
              </a:spcAft>
              <a:defRPr sz="1700"/>
            </a:pPr>
            <a:r>
              <a:t>The assistant retrieves the most relevant document section for the question.</a:t>
            </a:r>
          </a:p>
          <a:p>
            <a:pPr>
              <a:spcAft>
                <a:spcPts val="1200"/>
              </a:spcAft>
              <a:defRPr sz="1700"/>
            </a:pPr>
            <a:r>
              <a:t>The Week 4 guide describes this as a practical business application.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Week 4 — Generative AI Fundamentals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Day 7 — AI Document Question-Answering Assistant — Code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325880"/>
            <a:ext cx="10972800" cy="5029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/>
          <a:lstStyle/>
          <a:p>
            <a:pPr algn="ctr">
              <a:defRPr sz="1100">
                <a:latin typeface="Consolas"/>
              </a:defRPr>
            </a:pPr>
            <a:r>
              <a:t>from sklearn.feature_extraction.text import TfidfVectorizer</a:t>
            </a:r>
            <a:br/>
            <a:r>
              <a:t>from sklearn.metrics.pairwise import cosine_similarity</a:t>
            </a:r>
            <a:br/>
            <a:br/>
            <a:r>
              <a:t>chunks = [</a:t>
            </a:r>
            <a:br/>
            <a:r>
              <a:t>    "Generative AI is a type of artificial intelligence that can create new content.",</a:t>
            </a:r>
            <a:br/>
            <a:r>
              <a:t>    "Large Language Models are used to understand and generate human-like text.",</a:t>
            </a:r>
            <a:br/>
            <a:r>
              <a:t>    "Prompt engineering helps developers improve AI responses.",</a:t>
            </a:r>
            <a:br/>
            <a:r>
              <a:t>    "Embeddings convert text into numerical vectors.",</a:t>
            </a:r>
            <a:br/>
            <a:r>
              <a:t>    "Retrieval-Augmented Generation retrieves relevant information before generating an answer."</a:t>
            </a:r>
            <a:br/>
            <a:r>
              <a:t>]</a:t>
            </a:r>
            <a:br/>
            <a:br/>
            <a:r>
              <a:t>question = "What is Generative AI?"</a:t>
            </a:r>
            <a:br/>
            <a:br/>
            <a:r>
              <a:t>vectorizer = TfidfVectorizer()</a:t>
            </a:r>
            <a:br/>
            <a:r>
              <a:t>chunk_vectors = vectorizer.fit_transform(chunks)</a:t>
            </a:r>
            <a:br/>
            <a:r>
              <a:t>question_vector = vectorizer.transform([question])</a:t>
            </a:r>
            <a:br/>
            <a:br/>
            <a:r>
              <a:t>similarity_scores = cosine_similarity(question_vector, chunk_vectors)</a:t>
            </a:r>
            <a:br/>
            <a:r>
              <a:t>best_index = similarity_scores.argmax()</a:t>
            </a:r>
            <a:br/>
            <a:br/>
            <a:r>
              <a:t>relevant_information = chunks[best_index]</a:t>
            </a:r>
            <a:br/>
            <a:br/>
            <a:r>
              <a:t>print("AI DOCUMENT QUESTION-ANSWERING")</a:t>
            </a:r>
            <a:br/>
            <a:r>
              <a:t>print("Question:", question)</a:t>
            </a:r>
            <a:br/>
            <a:r>
              <a:t>print("Relevant Information:", relevant_information)</a:t>
            </a:r>
            <a:br/>
            <a:r>
              <a:t>print("Answer:", relevant_information)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Week 4 — Generative AI Fundamentals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Day 7 Mini Project —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Allow the user to upload a text or PDF document.</a:t>
            </a:r>
          </a:p>
          <a:p>
            <a:pPr>
              <a:spcAft>
                <a:spcPts val="1200"/>
              </a:spcAft>
              <a:defRPr sz="1600"/>
            </a:pPr>
            <a:r>
              <a:t>Extract the text from the document.</a:t>
            </a:r>
          </a:p>
          <a:p>
            <a:pPr>
              <a:spcAft>
                <a:spcPts val="1200"/>
              </a:spcAft>
              <a:defRPr sz="1600"/>
            </a:pPr>
            <a:r>
              <a:t>Divide the document into smaller sections or chunks.</a:t>
            </a:r>
          </a:p>
          <a:p>
            <a:pPr>
              <a:spcAft>
                <a:spcPts val="1200"/>
              </a:spcAft>
              <a:defRPr sz="1600"/>
            </a:pPr>
            <a:r>
              <a:t>Generate embeddings for the document content.</a:t>
            </a:r>
          </a:p>
          <a:p>
            <a:pPr>
              <a:spcAft>
                <a:spcPts val="1200"/>
              </a:spcAft>
              <a:defRPr sz="1600"/>
            </a:pPr>
            <a:r>
              <a:t>Store embeddings for retrieval.</a:t>
            </a:r>
          </a:p>
          <a:p>
            <a:pPr>
              <a:spcAft>
                <a:spcPts val="1200"/>
              </a:spcAft>
              <a:defRPr sz="1600"/>
            </a:pPr>
            <a:r>
              <a:t>Accept questions and retrieve the most relevant document sections.</a:t>
            </a:r>
          </a:p>
          <a:p>
            <a:pPr>
              <a:spcAft>
                <a:spcPts val="1200"/>
              </a:spcAft>
              <a:defRPr sz="1600"/>
            </a:pPr>
            <a:r>
              <a:t>Send relevant context and the question to an LLM and generate an answer.</a:t>
            </a:r>
          </a:p>
          <a:p>
            <a:pPr>
              <a:spcAft>
                <a:spcPts val="1200"/>
              </a:spcAft>
              <a:defRPr sz="1600"/>
            </a:pPr>
            <a:r>
              <a:t>Display the answer through a simple user interface.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Week 4 — Generative AI Fundamentals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Week 4 — 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8016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Generative AI systems can create new content such as text, summaries, answers, and code.</a:t>
            </a:r>
          </a:p>
          <a:p>
            <a:pPr>
              <a:spcAft>
                <a:spcPts val="1200"/>
              </a:spcAft>
              <a:defRPr sz="1800"/>
            </a:pPr>
            <a:r>
              <a:t>LLMs understand and generate text using tokens and contextual information.</a:t>
            </a:r>
          </a:p>
          <a:p>
            <a:pPr>
              <a:spcAft>
                <a:spcPts val="1200"/>
              </a:spcAft>
              <a:defRPr sz="1800"/>
            </a:pPr>
            <a:r>
              <a:t>Prompt engineering helps control the quality and format of AI responses.</a:t>
            </a:r>
          </a:p>
          <a:p>
            <a:pPr>
              <a:spcAft>
                <a:spcPts val="1200"/>
              </a:spcAft>
              <a:defRPr sz="1800"/>
            </a:pPr>
            <a:r>
              <a:t>LLM APIs allow applications to integrate Generative AI capabilities programmatically.</a:t>
            </a:r>
          </a:p>
          <a:p>
            <a:pPr>
              <a:spcAft>
                <a:spcPts val="1200"/>
              </a:spcAft>
              <a:defRPr sz="1800"/>
            </a:pPr>
            <a:r>
              <a:t>Embeddings support similarity-based retrieval.</a:t>
            </a:r>
          </a:p>
          <a:p>
            <a:pPr>
              <a:spcAft>
                <a:spcPts val="1200"/>
              </a:spcAft>
              <a:defRPr sz="1800"/>
            </a:pPr>
            <a:r>
              <a:t>RAG retrieves relevant external information before generating an answer.</a:t>
            </a:r>
          </a:p>
          <a:p>
            <a:pPr>
              <a:spcAft>
                <a:spcPts val="1200"/>
              </a:spcAft>
              <a:defRPr sz="1800"/>
            </a:pPr>
            <a:r>
              <a:t>A Generative AI application combines models, prompts, data, retrieval, and application logic.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Week 4 — Generative AI Fundamentals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Completed the Week 4 learning path from Generative AI fundamentals to a document Q&amp;A assistant.</a:t>
            </a:r>
          </a:p>
          <a:p>
            <a:pPr>
              <a:spcAft>
                <a:spcPts val="1200"/>
              </a:spcAft>
              <a:defRPr sz="2100"/>
            </a:pPr>
            <a:r>
              <a:t>Practiced prompts, API concepts, context, embeddings, similarity search, and retrieval.</a:t>
            </a:r>
          </a:p>
          <a:p>
            <a:pPr>
              <a:spcAft>
                <a:spcPts val="1200"/>
              </a:spcAft>
              <a:defRPr sz="2100"/>
            </a:pPr>
            <a:r>
              <a:t>Built a simple Python-based demonstration and a mini document question-answering workflow.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Week 4 — Generative AI Fundamentals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